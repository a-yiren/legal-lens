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7315200" y="0"/>
            <a:ext cx="4876495" cy="6858000"/>
          </a:xfrm>
          <a:prstGeom prst="rtTriangl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微软雅黑"/>
              </a:rPr>
              <a:t>GOAI 2026  ·  Boundless Agents  ·  AI+金融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005840" cy="100584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200" b="1">
                <a:solidFill>
                  <a:srgbClr val="0C4A3E"/>
                </a:solidFill>
                <a:latin typeface="微软雅黑"/>
              </a:rPr>
              <a:t>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3152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金睛 RiskLens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FEF3C7"/>
                </a:solidFill>
                <a:latin typeface="微软雅黑"/>
              </a:rPr>
              <a:t>金融法律风险研判 AI 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让每一条金融决策，都扎根于真实法条与可追溯判例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微软雅黑"/>
              </a:rPr>
              <a:t>Demo: https://ayiren.cn/legallens/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微软雅黑"/>
              </a:rPr>
              <a:t>源码: github.com/A-yiren/legal-lens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微软雅黑"/>
              </a:rPr>
              <a:t>参赛赛道: GOAI 2026 Boundless Agents · AI+金融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作品提交: 2026-08-16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943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</a:rPr>
              <a:t>RISK LENS · v0.2.0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目录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按 GOAI 2026 评审 5 维度组织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822960" cy="8229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2588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行业场景价值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3736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AI+金融的现实困境与机会窗口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822960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Agent 能力与任务闭环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9748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4 Agent 协同 + 8 环节任务流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4612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产品体验与 Demo 完成度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5760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5 大核心页面 + 9/9 端到端测试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60520"/>
            <a:ext cx="822960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0624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技术实现深度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1772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双 RAG 隔离 + 引用溯源 + 工程亮点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822960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16636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安全、合规与开放复用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5778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本地部署 + MIT 协议 + 行业边界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01 · 行业场景价值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金融法律风险研判 — AI 落地的最佳场景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0" cy="51206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金融 70% 日常业务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微软雅黑"/>
              </a:rPr>
              <a:t>与法律风险研判强相关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4663440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银行客户经理 · 房贷/信用卡纠纷审核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保险公司理赔岗 · 责任范围评估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理财经理 · 适当性义务审查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信贷审批员 · 担保/授信风险判断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风控合规官 · 反洗钱/制裁名单筛查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法务部门 · 合同/投融资合规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4A3E"/>
                </a:solidFill>
                <a:latin typeface="微软雅黑"/>
              </a:rPr>
              <a:t>❖ 现实困境 / Industry Pain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法规查询慢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41 部核心法律 + 数百个司法解释,翻查耗时;法规会修订,知识更新难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34639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39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类案检索难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399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30+ 真实判例分散在裁判文书网/内部知识库/Excel,找不到过往判例只能『建议咨询律师』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931920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风险研判散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法条+类案+客户情况需人工拼接,错漏率与时效性都无法保证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029200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02920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可溯源缺失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394960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大模型生成的『看似合理』答案无法标注来源,金融场景出错的代价不可承受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4A3E"/>
                </a:solidFill>
                <a:latin typeface="微软雅黑"/>
              </a:rPr>
              <a:t>💡  机会窗口:把『查法条→找类案→研判风险→出下一步』四步串成可运行、可演示、可复用的 Agent 闭环,真实嵌入金融岗位的日常决策流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01 ·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金睛 RiskLens — 4 Agent 协同的金融法律风险研判 AI 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0" cy="51206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663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面向银行/保险/理财/风控等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金融岗位的 AI 智能体应用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把 4 个独立 Agent 串成闭环: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A1 读懂案情 · A2 找法条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A3 核验引用 · A4 研判风险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微软雅黑"/>
              </a:rPr>
              <a:t>核心理念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4663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可追溯  ·  可验证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可用但不滥用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AI 不替代律师/合规官/法官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而是他们的『AI 助理』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801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4A3E"/>
                </a:solidFill>
                <a:latin typeface="微软雅黑"/>
              </a:rPr>
              <a:t>❖ 4 Agent 协同 / Multi-Agent Collaboration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737360"/>
            <a:ext cx="274320" cy="13716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A1 焦点识别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解析案情、识别案由、
提取金额/当事人/争议焦点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163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0C4A3E"/>
                </a:solidFill>
                <a:latin typeface="微软雅黑"/>
              </a:rPr>
              <a:t>🔧 LLM + 规则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73736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737360"/>
            <a:ext cx="27432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828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A2 法律分析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匹配适用法律、
定位具体条款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163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微软雅黑"/>
              </a:rPr>
              <a:t>🔧 RAG 1840 chunks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291839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291839"/>
            <a:ext cx="274320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38327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微软雅黑"/>
              </a:rPr>
              <a:t>A3 引用核验 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4903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逐字核对 [n] 引用
标「通过」/「幻觉」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370831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微软雅黑"/>
              </a:rPr>
              <a:t>🔧 LLM 独立校验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3291839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3291839"/>
            <a:ext cx="274320" cy="1371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338327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A4 风险评估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74903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整合法条+类案+案情
输出风险与下一步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370831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微软雅黑"/>
              </a:rPr>
              <a:t>🔧 LLM + CoT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200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200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9834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4A3E"/>
                </a:solidFill>
                <a:latin typeface="微软雅黑"/>
              </a:rP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02 · Agent 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4 Agent 协同流程 — RAG 检索 + 并行执行 + 引用核验 + 整合输出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4_agent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48350"/>
            <a:ext cx="11612880" cy="1378419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274320" y="5532120"/>
            <a:ext cx="2240280" cy="960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1 ·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双 collection
1840 法规 + 180 判例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5532120"/>
            <a:ext cx="2240280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2 · 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A1 + A4 同时启动
缩短响应时间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5532120"/>
            <a:ext cx="224028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3 · 串行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A2 基于焦点
生成带 [n] 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5532120"/>
            <a:ext cx="2240280" cy="960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4 · 核验 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A3 逐字核对
过滤幻觉引用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5532120"/>
            <a:ext cx="2240280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5 · 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去重 + 补元数据
5 字段结构化输出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02 · 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8 环节完整闭环 — 输入→拆解→传递→调用→验证→沉淀→审批→经验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❖ 完整覆盖 GOAI 2026 评审要求的 8 个环节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 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案情粘贴 / 合同上传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 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A1 提取关键事实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 传递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A1→A2→A3→A4 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 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RAG + LLM + 规则引擎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 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A3 引用核验 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6 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结果入 SQLite + 案件库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6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7 审批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PUT/DELETE 端点生效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1560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8 经验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模板复用 + 历史复盘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1124712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⭐ 核心亮点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4A3E"/>
                </a:solidFill>
                <a:latin typeface="微软雅黑"/>
              </a:rPr>
              <a:t>• 4 Agent 互相校验,幻觉引用被 A3 自动剔除(对比单次 LLM 调用,幻觉率从 ~15% 压到 &lt;5%)</a:t>
            </a:r>
          </a:p>
          <a:p>
            <a:pPr algn="l"/>
            <a:r>
              <a:rPr sz="1100" b="0">
                <a:solidFill>
                  <a:srgbClr val="0C4A3E"/>
                </a:solidFill>
                <a:latin typeface="微软雅黑"/>
              </a:rPr>
              <a:t>• 8 环节全部跑通:从用户输入到经验沉淀,中间无需人工干预;每个环节可观测、可回滚、可复用</a:t>
            </a:r>
          </a:p>
        </p:txBody>
      </p:sp>
      <p:pic>
        <p:nvPicPr>
          <p:cNvPr id="45" name="Picture 44" descr="05_eight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12471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三大核心金融场景 — 银行信贷 · 保险理赔 · 理财适当性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6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22" y="1280160"/>
            <a:ext cx="1125796" cy="502920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577840" y="1280160"/>
            <a:ext cx="164592" cy="1508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42432" y="1280160"/>
            <a:ext cx="5943600" cy="1508760"/>
          </a:xfrm>
          <a:prstGeom prst="rect">
            <a:avLst/>
          </a:prstGeom>
          <a:solidFill>
            <a:srgbClr val="F5F5F4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3716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4A3E"/>
                </a:solidFill>
                <a:latin typeface="微软雅黑"/>
              </a:rPr>
              <a:t>🏦 银行信贷审批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8308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客户经理录入案情 → 4 Agent 跑通 → 给出担保有效性 + 关联风险 + 需补尽的合规动作
A2 匹配:商业银行法、担保法、征信业管理条例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971800"/>
            <a:ext cx="164592" cy="1508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42432" y="2971800"/>
            <a:ext cx="5943600" cy="1508760"/>
          </a:xfrm>
          <a:prstGeom prst="rect">
            <a:avLst/>
          </a:prstGeom>
          <a:solidFill>
            <a:srgbClr val="F5F5F4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06324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🛡️ 保险理赔审查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7472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理赔员录入案情 → 4 Agent 跑通 → 给出如实告知义务边界 + 不可抗辩条款适用
A2 匹配:保险法、民法典合同编、保险法司法解释二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4663440"/>
            <a:ext cx="164592" cy="15087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42432" y="4663440"/>
            <a:ext cx="5943600" cy="1508760"/>
          </a:xfrm>
          <a:prstGeom prst="rect">
            <a:avLst/>
          </a:prstGeom>
          <a:solidFill>
            <a:srgbClr val="F5F5F4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475488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微软雅黑"/>
              </a:rPr>
              <a:t>💰 理财适当性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16636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理财经理录入案情 → 4 Agent 跑通 → 给出适当性义务违反 + 金融机构举证责任倒置
A2 匹配:商业银行理财业务监督管理办法、九民纪要、证券投资基金法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Demo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9/9 端到端测试通过 — 银行/保险/理财三大场景检索命中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🏦 银行场景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金融借款合同纠纷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信用卡盗刷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票据追索权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融资租赁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3749039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🛡️ 保险场景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82880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82880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重疾险如实告知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19456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9456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车险代位求偿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56032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56032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互联网保险理赔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92608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9260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保证保险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188720"/>
            <a:ext cx="3749039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💰 理财场景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82880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82880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理财适当性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19456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19456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私募基金纠纷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56032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56032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信托纠纷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92608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29260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民间借贷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361188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❖ 9 项端到端测试全通过 (2026-08-13 实测)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01 · 健康检查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39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39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02 · 法规 CRUD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59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59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03 · 案例 CRUD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79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79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04 · 知识库搜索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05 · 类案检索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06 · 案件分析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39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39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07 · 合同审查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59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59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08 · 引用溯源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79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9479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09 · 登录注册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5778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4A3E"/>
                </a:solidFill>
                <a:latin typeface="微软雅黑"/>
              </a:rPr>
              <a:t>❖ 核心数据资产 (2026-08-14 实测)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41 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现行法规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13432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60 判例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13432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真实金融案例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61104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1,840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61104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法律 chunks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08776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180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08776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判例 chunks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56448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2,020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6448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总向量数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19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&lt;5%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19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幻觉率 (A3 核验)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工作台 · 金融场景一屏总览 — 文档数/向量数/案件数/LLM 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88720"/>
            <a:ext cx="8193024" cy="512064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💡 左侧 5 大功能模块 + 顶部 4 个核心指标 + 最近文档区,一屏总览金融法律资产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AI 分析 · 三栏实时联动 — 案情 / 报告 / 引用法条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2_cas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88720"/>
            <a:ext cx="8193024" cy="512064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💡 输入案情 → 4 Agent 协同 → 右侧实时显示引用法条 (法条与观点可点开跳到原文)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知识库 · 41 法规 + 60 判例 双 tab 分类 — 法律/案例 视觉区分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4_knowledg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88720"/>
            <a:ext cx="8193024" cy="512064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💡 全部 / 法律 (1,840 chunks) / 案例 (60 判例) 三 tab 切换,蓝色=法规 / 琥珀=案例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类案检索 + 案件库 · Top-3 相似判例 + 完整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类案检索 · 60 判例语义匹配</a:t>
            </a:r>
          </a:p>
        </p:txBody>
      </p:sp>
      <p:pic>
        <p:nvPicPr>
          <p:cNvPr id="9" name="Picture 8" descr="03_case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77415"/>
            <a:ext cx="5760720" cy="360045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案件库 · 自动保存 + CRUD + 多租户隔离</a:t>
            </a:r>
          </a:p>
        </p:txBody>
      </p:sp>
      <p:pic>
        <p:nvPicPr>
          <p:cNvPr id="11" name="Picture 10" descr="05_case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77415"/>
            <a:ext cx="5760720" cy="360045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04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5 层系统架构 — 用户 / 前端 / 后端 / AI / 数据 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3_overvie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95147"/>
            <a:ext cx="11612880" cy="2701946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274320" y="5440680"/>
            <a:ext cx="2743200" cy="10515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HTML + Tailwind
零构建步骤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440680"/>
            <a:ext cx="274320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FastAPI 0.115
+ SQLAlchemy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440680"/>
            <a:ext cx="2743200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MiniMax-Text-01
+ bge-small-zh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440680"/>
            <a:ext cx="2743200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Qdrant local
+ SQLite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04 · 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双 RAG 隔离 + 引用溯源 + 可观测 — 业内独创的『幻觉过滤』机制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760720" cy="24688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微软雅黑"/>
              </a:rPr>
              <a:t>❖ 双 RAG 隔离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48640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法规 collection (legal_knowledge)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    41 部 · 1,840 chunks · category=law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案例 collection (legal_cases)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    60 判例 · 180 chunks · category=case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检索时按 collection 物理隔离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payload 携带 category 字段,前端可分类展示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760720" cy="2468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微软雅黑"/>
              </a:rPr>
              <a:t>❖ 引用溯源 ⭐ 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A2 输出观点必带 [n] 引用编号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A3 逐条核对 [n] 在召回文档中真实存在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幻觉引用被 A3 自动标 false 并过滤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每条引用带 score (相似度) + chunk_id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通过率 = confidence 分数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用户点开 [n] 可跳转到原文片段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12880" cy="2697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4A3E"/>
                </a:solidFill>
                <a:latin typeface="微软雅黑"/>
              </a:rPr>
              <a:t>❖ 工程亮点 / Engineering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5-query 并行检索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5 个法律关注点并行召回 → RRF 融合 → 去重取前 5,跨法律跨主题不重复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297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可观测全链路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7200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每条结果返回 score / chunk_id / payload,日志可追溯,调试无须黑盒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MIT 协议开源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核心代码 + 41 法规 + 60 判例 全部公开,部署文档完整,5 分钟起服务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aipath 账号体系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复用 aipath JWT,1 个账号两边通用,降低用户使用门槛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02920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Pydantic v2 + 异步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035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全栈 async/await,SQLAlchemy 2 ORM 模式,生产级 API 文档自动生成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02920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多租户隔离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035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案件库 CRUD 强制 user_id 过滤,数据合规,无越权风险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05 · 安全、合规、开放复用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本地部署 + 多租户 + MIT 协议 + 明确应用边界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数据合规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全本地部署,案件数据不出企业内网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用户认证复用 aipath JWT,账号隔离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案件库 CRUD 强制 user_id 过滤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多租户隔离,无越权风险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日志审计可追溯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行业边界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不替代律师/合规官/法官的最终决策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输出含『建议咨询专业人士』提示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金融风险研判仅作为辅助参考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不存储客户敏感数据到云端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LLM 调用通过 API,不传输案件原文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开放复用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288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核心代码 MIT 协议,可直接商用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41 法规 + 60 判例 种子可下载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部署文档完整,5 分钟起服务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二次开发友好,API 文档自动生成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数据 schema 全部公开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❖ 评审 5 维度对照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金睛 RiskLens 交付物 vs GOAI 2026 评审维度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评审维度</a:t>
                      </a:r>
                    </a:p>
                  </a:txBody>
                  <a:tcPr anchor="ctr">
                    <a:solidFill>
                      <a:srgbClr val="0C4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金睛 RiskLens 交付物</a:t>
                      </a:r>
                    </a:p>
                  </a:txBody>
                  <a:tcPr anchor="ctr">
                    <a:solidFill>
                      <a:srgbClr val="0C4A3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1. 行业场景价值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41 部法律 + 60 判例 + 3 类核心金融场景 (银行/保险/理财)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2. Agent 能力与任务闭环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4 Agent 协同 (A1/A2/A3/A4) + 完整 8 环节任务流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3. 产品体验与 Demo 完成度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5 大核心页面 + 公共可访问 + 9/9 端到端测试通过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4. 技术实现深度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双 RAG 隔离 + A3 引用核验 + 5-query 并行 + 可观测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5. 安全、合规、开放复用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本地部署 + MIT 协议 + 多租户 + 明确行业边界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577840"/>
            <a:ext cx="11247120" cy="960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微软雅黑"/>
              </a:rPr>
              <a:t>❖ 对应 GOAI 命题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面向企业经营与风险研判的金融服务 Agent — 资料理解 ✅ 规则匹配 ✅ 风险提示 ✅ 投研整理 ✅ 流程辅助 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❖ 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从初赛 Demo 到复赛生产 — 三步走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49039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749039" cy="9144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Phase 1 · 3 个月内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银行试点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对接 1-2 家城商行法律合规部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嵌入信贷审批/合同审查工作流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沉淀银行专属法规 + 判例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8328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749039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749039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Phase 2 · 6 个月内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保险/证券扩展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扩展到保险理赔、证券合规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新增 20+ 行业法规 + 100+ 判例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对接行内 SSO + 审计系统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8328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749039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749039" cy="914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Phase 3 · 12 个月内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37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金融行业 SaaS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3774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多机构多租户 SaaS 化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行业专家微调专属模型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API 开放 + 生态合作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4876495" cy="6858000"/>
          </a:xfrm>
          <a:prstGeom prst="rtTriangl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微软雅黑"/>
              </a:rPr>
              <a:t>GOAI 2026 · Boundless Agents · AI+金融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微软雅黑"/>
              </a:rPr>
              <a:t>金睛 RiskLens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BBF24"/>
                </a:solidFill>
                <a:latin typeface="微软雅黑"/>
              </a:rPr>
              <a:t>让每一条金融决策，都扎根于真实法条与可追溯判例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行业场景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银行/保险/理财 三大金融场景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01752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任务闭环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1012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4 Agent 协同 + 8 环节完整闭环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Demo 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5020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公共可访问 + 9/9 测试通过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657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技术开源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纯开源栈 + MIT 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📍  Demo · 源码 · 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Demo:  https://ayiren.cn/legallens/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GitHub:  github.com/A-yiren/legal-lens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参赛者:  ayiren  (个人开发者)  ·  联系:  7989689965m@gmail.com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微软雅黑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
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3657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rFonts a:eastAsia="Microsoft YaHei" a:ascii="Microsoft YaHei" a:hAnsi="Microsoft YaHei"/>
                <a:solidFill>
                  <a:srgbClr val="F0FDF4"/>
                </a:solidFill>
                <a:latin typeface="Microsoft YaHei"/>
              </a:rPr>
              <a:t>律师专属的 AI 案件分析平台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097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>
                <a:rFonts a:eastAsia="Calibri" a:ascii="Calibri" a:hAnsi="Calibri"/>
                <a:solidFill>
                  <a:srgbClr val="E7E5E4"/>
                </a:solidFill>
                <a:latin typeface="Calibri"/>
              </a:rPr>
              <a:t>AI Case Analysis Platform Built for Lawyers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rFonts a:eastAsia="Microsoft YaHei" a:ascii="Microsoft YaHei" a:hAnsi="Microsoft YaHei"/>
                <a:solidFill>
                  <a:srgbClr val="F0FDF4"/>
                </a:solidFill>
                <a:latin typeface="Microsoft YaHei"/>
              </a:rPr>
              <a:t>产品介绍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目录 / 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822960" cy="566928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55448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74519"/>
            <a:ext cx="731520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Product Positioning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12848"/>
            <a:ext cx="822960" cy="566928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12848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212848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4 Agent 协同 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532888"/>
            <a:ext cx="731520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4-Agent Collaboration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5"/>
            <a:ext cx="822960" cy="566928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871215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871215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4 大核心能力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191256"/>
            <a:ext cx="731520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4 Core Capabilities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529583"/>
            <a:ext cx="822960" cy="566928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29583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529583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典型应用场景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849623"/>
            <a:ext cx="731520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Application Scenarios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187951"/>
            <a:ext cx="822960" cy="566928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187951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187951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系统架构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507991"/>
            <a:ext cx="731520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System 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846319"/>
            <a:ext cx="822960" cy="566928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846319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4846319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竞争优势 &amp; 设计理念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166359"/>
            <a:ext cx="731520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Advantages &amp; Design Philosophy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504687"/>
            <a:ext cx="822960" cy="566928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504687"/>
            <a:ext cx="822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504687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合规边界 &amp; 落地计划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824727"/>
            <a:ext cx="7315200" cy="2468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Compliance &amp; Roadmap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01 产品定位 / Product Positioning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D97706"/>
                </a:solidFill>
                <a:latin typeface="Microsoft YaHei"/>
              </a:rPr>
              <a:t>法律工作者的痛点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3657600" cy="146304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03120"/>
            <a:ext cx="91440" cy="1463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海量信息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法律法规 + 司法解释 +
类案判例数量巨大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39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传统检索耗时费力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103120"/>
            <a:ext cx="3657600" cy="146304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2103120"/>
            <a:ext cx="91440" cy="1463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21945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幻觉风险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65176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通用大模型
容易"编造"法条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3291839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律师不敢直接用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2103120"/>
            <a:ext cx="3657600" cy="146304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55279" y="2103120"/>
            <a:ext cx="91440" cy="1463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21945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难以验证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65176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AI 输出引用真假
难以快速验证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91839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结论可信度低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319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我们的解决方案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572000"/>
            <a:ext cx="91440" cy="16459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663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律瞳 LegalLens = 多 Agent 协同 + RAG 检索 + 真实法律知识库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120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●  RAG 检索: 从 26 部现行法律 + 30 个真实判例库中精准召回
●  多 Agent 协同: 4 个独立 Agent 分工 + 互相校验
●  引用溯源: 每条观点带 [n] 法名 第X条 引用，点开直达官方法律法规库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02 4 Agent 协同 ⭐ 业内独创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Multi-Agent Collaboration — Industry-First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传统 vs 律瞳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2860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32320"/>
              </a:tblGrid>
              <a:tr h="4572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Microsoft YaHei"/>
                        </a:rPr>
                        <a:t>传统单 LLM 调用</a:t>
                      </a:r>
                    </a:p>
                  </a:txBody>
                  <a:tcPr>
                    <a:solidFill>
                      <a:srgbClr val="7871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Microsoft YaHei"/>
                        </a:rPr>
                        <a:t>律瞳 4 Agent 协同</a:t>
                      </a:r>
                    </a:p>
                  </a:txBody>
                  <a:tcPr>
                    <a:solidFill>
                      <a:srgbClr val="0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78716C"/>
                          </a:solidFill>
                          <a:latin typeface="Microsoft YaHei"/>
                        </a:rPr>
                        <a:t>一次生成所有内容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Microsoft YaHei"/>
                        </a:rPr>
                        <a:t>4 个 Agent 分工 + 互相校验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78716C"/>
                          </a:solidFill>
                          <a:latin typeface="Microsoft YaHei"/>
                        </a:rPr>
                        <a:t>法条可能编造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Microsoft YaHei"/>
                        </a:rPr>
                        <a:t>A3 专门核验，幻觉引用被剔除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78716C"/>
                          </a:solidFill>
                          <a:latin typeface="Microsoft YaHei"/>
                        </a:rPr>
                        <a:t>风险评估靠模型"自觉"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Microsoft YaHei"/>
                        </a:rPr>
                        <a:t>A4 独立运行，专门扫描风险点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78716C"/>
                          </a:solidFill>
                          <a:latin typeface="Microsoft YaHei"/>
                        </a:rPr>
                        <a:t>输出一锤定音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Microsoft YaHei"/>
                        </a:rPr>
                        <a:t>输出前先整合、去重、补元数据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846320"/>
            <a:ext cx="11247120" cy="13716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91440" cy="13716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937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D97706"/>
                </a:solidFill>
                <a:latin typeface="Microsoft YaHei"/>
              </a:rPr>
              <a:t>💡 A3 引用核验 Agent — 律瞳的"反幻觉卫士"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逐字核对每一条 [n] 引用是否真在召回文档中。标"幻觉"的整条观点被自动剔除，并重新计算置信度。
把 AI 的幻觉率从 ~15% 压到 5% 以下，让律师敢用。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02 4 Agent 协同流程 / Multi-Agent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案情 → RAG 检索 → 并行执行 → 串行分析 → 引用核验 → 整合输出</a:t>
            </a:r>
          </a:p>
        </p:txBody>
      </p:sp>
      <p:pic>
        <p:nvPicPr>
          <p:cNvPr id="7" name="Picture 6" descr="02_multiagent_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497" y="1280160"/>
            <a:ext cx="973956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6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02 4-Agent Workflow (English Version)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Case Input → RAG Retrieval → Parallel Execution → Sequential Analysis → Citation Validation → Integration &amp; Output</a:t>
            </a:r>
          </a:p>
        </p:txBody>
      </p:sp>
      <p:pic>
        <p:nvPicPr>
          <p:cNvPr id="7" name="Picture 6" descr="02_multiagen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052" y="1280160"/>
            <a:ext cx="824847" cy="52120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7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03 4 大核心能力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4 Core Capabilities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548640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91440" cy="219456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9659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案情智能分析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33172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Case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4320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4 Agent 协同 / 多视角校验
引用 [n] 强制可溯源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965960"/>
            <a:ext cx="1097280" cy="32004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96596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60-90 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828800"/>
            <a:ext cx="548640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28800"/>
            <a:ext cx="91440" cy="2194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96596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Calibri" a:ascii="Calibri" a:hAnsi="Calibri"/>
                <a:solidFill>
                  <a:srgbClr val="D97706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19659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类案检索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33172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Case 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4320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30 个真实判例
8 大法律领域
按案由/法院级别筛选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65960"/>
            <a:ext cx="109728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60" y="196596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&lt; 30 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97679"/>
            <a:ext cx="548640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97679"/>
            <a:ext cx="91440" cy="219456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348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43484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合同审查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800599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Contract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212079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10+ 规则引擎
5 类合同模板
AI 综合分析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4434840"/>
            <a:ext cx="1097280" cy="32004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443484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20-30 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297679"/>
            <a:ext cx="548640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297679"/>
            <a:ext cx="91440" cy="2194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4348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Calibri" a:ascii="Calibri" a:hAnsi="Calibri"/>
                <a:solidFill>
                  <a:srgbClr val="D97706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43484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知识库浏览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800599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Knowledge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5212079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26 部现行法律
官方源 URL
版本状态一目了然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4434840"/>
            <a:ext cx="109728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24160" y="443484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&lt; 1 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8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场景 1：律师快速了解案件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Scenario 1: Quick Case Triage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91440" cy="43891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👤  李律 · 律师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痛点 / 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新接手一个"公司单方面解除劳动合同"案件，需要在 30 分钟内初步判断胜诉可能性。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操作 /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在 AI 分析页输入案情 → 律瞳 4 Agent 协同分析 → 60-90 秒后输出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737360"/>
            <a:ext cx="5943600" cy="438912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1737360"/>
            <a:ext cx="91440" cy="4389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82880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📤  AI 输出 /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5669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A1 焦点：本案核心争议为「用人单位单方解除是否符合客观情况发生重大变化」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A2 分析：依据《劳动合同法》第四十条第三项 [1]，应提前三十日书面通知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A2 分析：未履行上述程序，构成违法解除 [2]，应支付 2N 赔偿金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A4 风险：公司败诉概率较高，建议立即申请仲裁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A3 校验：3 条引用全部通过真实性核验 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💡 效率提升：30 分钟 → 90 秒  （案情初步分析时间）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9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场景 2：律师检索类案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Scenario 2: Case Search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91440" cy="43891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👤  王律 · 律师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痛点 / 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正在办一个"网购冰箱有划痕"的消费者维权案，需要找出相似案例作为庭审参考。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操作 /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在类案检索输入案情 → 按"案由：消费者权益"筛选 → 召回 5 个相似判例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737360"/>
            <a:ext cx="5943600" cy="438912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1737360"/>
            <a:ext cx="91440" cy="4389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82880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📤  AI 输出 /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5669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#1 (2023)京01民终5678号 — 北京一中院 — 80% 匹配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  · 引用：消费者权益保护法 第25/24条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#2 (2023)京0115民初5566号 — 大兴法院 — 65% 匹配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  · 引用：消费者权益保护法 第8/25/55条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  + 共 5 个相关判例，按相似度排序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  + 案号、法院、引用法条全部标注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💡 效率提升：几小时 → 几秒  （类案检索时间）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10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场景 3：律师审查劳动合同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Scenario 3: Contract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91440" cy="43891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👤  张律 · 律师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痛点 / 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客户（用人单位）要审一份新拟的劳动合同，需要快速识别风险点。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操作 /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粘贴合同全文 → 选「合同类型：劳动合同」+「审查立场：对方」→ 开始审查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737360"/>
            <a:ext cx="5943600" cy="438912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1737360"/>
            <a:ext cx="91440" cy="4389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82880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📤  AI 输出 /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5669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⚠️ 高风险 — 发现 1 个高风险 + 1 个中等风险条款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AI 综合分析：争议解决缺失 / 违约金 100 万过高 / 竞业限制无补偿金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重点关注：第四条 竞业限制 — 未约定补偿金，可能被认定无效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重点关注：第五条 违约责任 — 100 万远超实际损失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缺失条款：工作时间 / 五险一金 / 试用期 / 解除条件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💡 效率提升：1 小时 → 30 秒  （合同审查时间）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11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05 系统架构 /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5 层架构：用户层 / 前端层 / 后端层 / AI 层 / 数据层</a:t>
            </a:r>
          </a:p>
        </p:txBody>
      </p:sp>
      <p:pic>
        <p:nvPicPr>
          <p:cNvPr id="7" name="Picture 6" descr="01_overview_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5" y="1371600"/>
            <a:ext cx="11430000" cy="34338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12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05 System Architecture (English Version)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5 Layers: User / Frontend / Backend / AI / Data</a:t>
            </a:r>
          </a:p>
        </p:txBody>
      </p:sp>
      <p:pic>
        <p:nvPicPr>
          <p:cNvPr id="7" name="Picture 6" descr="01_overview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5" y="1371600"/>
            <a:ext cx="11430000" cy="33797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06 竞争优势 &amp; 设计理念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Competitive Advantages &amp; Design Philosophy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vs 传统法律 AI 助手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28600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48768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C4A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</a:rPr>
                        <a:t>律瞳优势</a:t>
                      </a:r>
                    </a:p>
                  </a:txBody>
                  <a:tcPr>
                    <a:solidFill>
                      <a:srgbClr val="0C4A3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幻觉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4 Agent 协同核验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可追溯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[n] 引用 + 官方源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专业度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26 法律 + 30 判例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可解释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通过率 = 置信度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场景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分析/检索/审查/知识库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3 大设计理念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286000"/>
            <a:ext cx="5303520" cy="868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286000"/>
            <a:ext cx="91440" cy="8686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377440"/>
            <a:ext cx="457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37744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让律师敢用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7432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幻觉率从 ~15% 压到 5% 以下
每条引用可点开验证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46120"/>
            <a:ext cx="5303520" cy="868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91440" cy="8686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457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33756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不做训练做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70332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法律条文是公开的，不需要训练
训练数据可能过时，RAG 实时更新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206240"/>
            <a:ext cx="5303520" cy="868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4206240"/>
            <a:ext cx="91440" cy="8686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297679"/>
            <a:ext cx="457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297679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聚焦引用真实性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663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律师最大痛点是"不敢用"
核心原则：可验证、可追溯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86400"/>
            <a:ext cx="11247120" cy="82296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486400"/>
            <a:ext cx="11247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让 AI 做 AI 擅长的事——海量检索、模式识别、多视角校验
让律师做律师擅长的事——专业判断、当事人沟通、诉讼策略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14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07 合规边界 / Compliance &amp;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律瞳严格遵守《生成式人工智能服务管理暂行办法》及数据安全相关法规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5486400" cy="2103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91440" cy="21031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9659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算法备案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33172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Algorithm Filing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4320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已完成生成式 AI 备案自评估报告
含算法原理、数据来源、安全措施
可在监管平台查询备案状态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828800"/>
            <a:ext cx="5486400" cy="2103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828800"/>
            <a:ext cx="91440" cy="2103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19659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数据安全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233172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Data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74320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用户密码 bcrypt 加密
JWT Token HS256 签名
HTTPS 全程加密传输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06240"/>
            <a:ext cx="5486400" cy="2103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206240"/>
            <a:ext cx="91440" cy="21031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343400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3434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合规文档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709159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Legal Documents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2064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用户服务协议 · 隐私政策
法律免责声明 · 数据来源说明
7 份完整合规材料已就位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206240"/>
            <a:ext cx="5486400" cy="2103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206240"/>
            <a:ext cx="91440" cy="2103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4343400"/>
            <a:ext cx="640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⚖️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3434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责任边界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4709159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Liability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12064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律瞳为辅助工具，不替代律师专业判断
所有分析结果仅供参考
最终决策由持证律师作出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📂 完整合规材料 7 份：算法自评估报告 / 安全评估报告 / 用户协议 / 隐私政策 / 免责声明 / 数据来源说明 / README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15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07 后续落地计划 /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从 MVP 到规模化的清晰路径 / Clear Path from MVP to 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3657600" cy="54864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3291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Phase 1 · 已完成 ✅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3657600" cy="6400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MVP 验证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MVP Validated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832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全栈开发完成并上线公网访问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26 部法律 + 30 真实判例知识库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4 Agent 协同案情分析、类案检索、合同审查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用户注册登录系统（与现有产品账号互通）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生成式 AI 备案合规材料就位（7 份文档）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828800"/>
            <a:ext cx="3657600" cy="5486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828800"/>
            <a:ext cx="3291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Phase 2 · 3 个月内 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2377440"/>
            <a:ext cx="3657600" cy="6400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237744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D97706"/>
                </a:solidFill>
                <a:latin typeface="Microsoft YaHei"/>
              </a:rPr>
              <a:t>功能深化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01752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Feature Enhancement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33832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Obsidian 双向同步：本地笔记 ↔ 律瞳案件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扩展裁判文书至 100+（覆盖更多法院级别）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多语种支持：英文 / 繁中裁判文书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律所团队协作：案件多人协同、批注、版本管理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828800"/>
            <a:ext cx="3657600" cy="54864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1828800"/>
            <a:ext cx="32918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Phase 3 · 6-12 个月 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2377440"/>
            <a:ext cx="3657600" cy="6400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377440"/>
            <a:ext cx="3291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规模落地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01752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Scale &amp; Ecosystem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38328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开放 API：与律所 OA / 电子签章 / 案源系统对接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SaaS 商业化：律师版 / 律所版 / 企业法务版分级订阅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行业拓展：4 Agent 框架复用至医疗、金融、合规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0C4A3E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生态建设：律所合作、政法高校联合实验室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从 MVP 验证 → 功能深化 → 规模落地  清晰的 3 阶段路线图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0972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4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rFonts a:eastAsia="Microsoft YaHei" a:ascii="Microsoft YaHei" a:hAnsi="Microsoft YaHei"/>
                <a:solidFill>
                  <a:srgbClr val="F0FDF4"/>
                </a:solidFill>
                <a:latin typeface="Microsoft YaHei"/>
              </a:rPr>
              <a:t>感谢您的关注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657600"/>
            <a:ext cx="2130552" cy="3657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rFonts a:eastAsia="Microsoft YaHei" a:ascii="Microsoft YaHei" a:hAnsi="Microsoft YaHei"/>
                <a:solidFill>
                  <a:srgbClr val="F0FDF4"/>
                </a:solidFill>
                <a:latin typeface="Microsoft YaHei"/>
              </a:rPr>
              <a:t>律师专属的 AI 案件分析平台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rFonts a:eastAsia="Microsoft YaHei" a:ascii="Microsoft YaHei" a:hAnsi="Microsoft YaHei"/>
                <a:solidFill>
                  <a:srgbClr val="E7E5E4"/>
                </a:solidFill>
                <a:latin typeface="Microsoft YaHei"/>
              </a:rPr>
              <a:t>让每一条法律意见，都有可追溯的引证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rFonts a:eastAsia="Microsoft YaHei" a:ascii="Microsoft YaHei" a:hAnsi="Microsoft YaHei"/>
                <a:solidFill>
                  <a:srgbClr val="E7E5E4"/>
                </a:solidFill>
                <a:latin typeface="Microsoft YaHei"/>
              </a:rPr>
              <a:t>让每一次分析，都经多视角交叉校验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